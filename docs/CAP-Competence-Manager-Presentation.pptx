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5FD4"/>
          </a:solidFill>
          <a:ln/>
        </p:spPr>
      </p:sp>
      <p:sp>
        <p:nvSpPr>
          <p:cNvPr id="3" name="Shape 1"/>
          <p:cNvSpPr/>
          <p:nvPr/>
        </p:nvSpPr>
        <p:spPr>
          <a:xfrm>
            <a:off x="4727448" y="1051560"/>
            <a:ext cx="274320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4" name="Image 0" descr="C:\Users\GPSP\Desktop\cap-competence-manager\public\cap-competences-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956048" y="1225296"/>
            <a:ext cx="2286000" cy="7040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2514600"/>
            <a:ext cx="1072591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 Compétence Manager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1188720" y="3657600"/>
            <a:ext cx="98115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logiciel tout-en-un qui pilote votre organisme de formation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188720" y="4526280"/>
            <a:ext cx="98115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D9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prospection à la facturation — centralisé, automatisé et conforme Qualiopi.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A5F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!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70432" y="38404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quotidien d'un organisme de formation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70432" y="1024128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Trop de temps perdu sur l'administratif, et un risque en cas d'audit.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6035040" cy="4480560"/>
          </a:xfrm>
          <a:prstGeom prst="roundRect">
            <a:avLst>
              <a:gd name="adj" fmla="val 1633"/>
            </a:avLst>
          </a:prstGeom>
          <a:solidFill>
            <a:srgbClr val="F1F5FC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011680"/>
            <a:ext cx="53949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Convocations, attestations et certificats rédigés et envoyés à la main</a:t>
            </a:r>
            <a:endParaRPr lang="en-US" sz="1600" dirty="0"/>
          </a:p>
          <a:p>
            <a:pPr marL="203200" indent="-2032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Conventions, contrats et feuilles d'émargement imprimés, signés, scannés</a:t>
            </a:r>
            <a:endParaRPr lang="en-US" sz="1600" dirty="0"/>
          </a:p>
          <a:p>
            <a:pPr marL="203200" indent="-2032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Relances des prospects, des impayés et des enquêtes dispersées</a:t>
            </a:r>
            <a:endParaRPr lang="en-US" sz="1600" dirty="0"/>
          </a:p>
          <a:p>
            <a:pPr marL="203200" indent="-2032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BPF et preuves Qualiopi reconstitués à la main, juste avant l'audit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12280" y="1691640"/>
            <a:ext cx="4919472" cy="4480560"/>
          </a:xfrm>
          <a:prstGeom prst="roundRect">
            <a:avLst>
              <a:gd name="adj" fmla="val 2041"/>
            </a:avLst>
          </a:prstGeom>
          <a:solidFill>
            <a:srgbClr val="0D1B3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949440" y="2468880"/>
            <a:ext cx="46451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à 2 jours</a:t>
            </a:r>
            <a:endParaRPr lang="en-US" sz="5000" dirty="0"/>
          </a:p>
        </p:txBody>
      </p:sp>
      <p:sp>
        <p:nvSpPr>
          <p:cNvPr id="10" name="Text 8"/>
          <p:cNvSpPr/>
          <p:nvPr/>
        </p:nvSpPr>
        <p:spPr>
          <a:xfrm>
            <a:off x="7223760" y="3657600"/>
            <a:ext cx="409651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semaine perdus en tâches administratives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A5F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70432" y="38404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Une seule plateforme, votre cockpit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70432" y="1024128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CRM, pédagogie, documents, e-learning, comptabilité et conformité réunis.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3977640" cy="4800600"/>
          </a:xfrm>
          <a:prstGeom prst="roundRect">
            <a:avLst>
              <a:gd name="adj" fmla="val 1839"/>
            </a:avLst>
          </a:prstGeom>
          <a:solidFill>
            <a:srgbClr val="F1F5FC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828800"/>
            <a:ext cx="35204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donnée saisie une seule fois alimente tout : documents, e-mails, stats, BPF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 en temps réel : remplissage des sessions, candidats, apprenants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Encart « à traiter » : inscriptions en attente, relances, activité de l'équipe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Moins de logiciels, zéro double saisie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13232" y="5349240"/>
            <a:ext cx="3465576" cy="868680"/>
          </a:xfrm>
          <a:prstGeom prst="roundRect">
            <a:avLst>
              <a:gd name="adj" fmla="val 8421"/>
            </a:avLst>
          </a:prstGeom>
          <a:solidFill>
            <a:srgbClr val="0D1B3E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5440680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D9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</a:t>
            </a:r>
            <a:endParaRPr lang="en-US" sz="900" dirty="0"/>
          </a:p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10 s, vous savez quoi traiter aujourd'hui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09160" y="1600200"/>
            <a:ext cx="7022592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1" name="Image 0" descr="C:\Users\GPSP\Desktop\cap-competence-manager\docs\presentation-shots\01-tableau-de-bo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64608" y="1755648"/>
            <a:ext cx="6711696" cy="448970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A5F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70432" y="38404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CRM &amp; prospects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70432" y="1024128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Transformez plus de prospects en stagiaires, sans rien oublier.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3977640" cy="4800600"/>
          </a:xfrm>
          <a:prstGeom prst="roundRect">
            <a:avLst>
              <a:gd name="adj" fmla="val 1839"/>
            </a:avLst>
          </a:prstGeom>
          <a:solidFill>
            <a:srgbClr val="F1F5FC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828800"/>
            <a:ext cx="35204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vos prospects centralisés et classés par formation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des sources d'acquisition et du taux de conversion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Affectation des dossiers aux collaborateurs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Relances programmées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13232" y="5349240"/>
            <a:ext cx="3465576" cy="868680"/>
          </a:xfrm>
          <a:prstGeom prst="roundRect">
            <a:avLst>
              <a:gd name="adj" fmla="val 8421"/>
            </a:avLst>
          </a:prstGeom>
          <a:solidFill>
            <a:srgbClr val="0D1B3E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5440680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D9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</a:t>
            </a:r>
            <a:endParaRPr lang="en-US" sz="900" dirty="0"/>
          </a:p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aucun prospect oublié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09160" y="1600200"/>
            <a:ext cx="7022592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1" name="Image 0" descr="C:\Users\GPSP\Desktop\cap-competence-manager\docs\presentation-shots\02-crm-prospec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64608" y="1755648"/>
            <a:ext cx="6711696" cy="448970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A5F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70432" y="38404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Pipeline commercial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70432" y="1024128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Visualisez et pilotez vos opportunités étape par étape.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3977640" cy="4800600"/>
          </a:xfrm>
          <a:prstGeom prst="roundRect">
            <a:avLst>
              <a:gd name="adj" fmla="val 1839"/>
            </a:avLst>
          </a:prstGeom>
          <a:solidFill>
            <a:srgbClr val="F1F5FC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828800"/>
            <a:ext cx="35204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clair : du nouveau prospect à l'inscription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 estimée des opportunités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Priorisation des relances commerciales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globale de l'activité commerciale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13232" y="5349240"/>
            <a:ext cx="3465576" cy="868680"/>
          </a:xfrm>
          <a:prstGeom prst="roundRect">
            <a:avLst>
              <a:gd name="adj" fmla="val 8421"/>
            </a:avLst>
          </a:prstGeom>
          <a:solidFill>
            <a:srgbClr val="0D1B3E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5440680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D9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</a:t>
            </a:r>
            <a:endParaRPr lang="en-US" sz="900" dirty="0"/>
          </a:p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suivi commercial structuré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09160" y="1600200"/>
            <a:ext cx="7022592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1" name="Image 0" descr="C:\Users\GPSP\Desktop\cap-competence-manager\docs\presentation-shots\03-crm-pipelin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64608" y="1755648"/>
            <a:ext cx="6711696" cy="448970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A5F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70432" y="38404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Dossiers candidats — la fiche 360°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70432" y="1024128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 l'information du candidat au même endroit.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3977640" cy="4800600"/>
          </a:xfrm>
          <a:prstGeom prst="roundRect">
            <a:avLst>
              <a:gd name="adj" fmla="val 1839"/>
            </a:avLst>
          </a:prstGeom>
          <a:solidFill>
            <a:srgbClr val="F1F5FC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828800"/>
            <a:ext cx="35204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Coordonnées, situation, financement, photo d'identité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Inscriptions, avancement du parcours et historique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des pièces du dossier administratif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Relance automatique des pièces manquantes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13232" y="5349240"/>
            <a:ext cx="3465576" cy="868680"/>
          </a:xfrm>
          <a:prstGeom prst="roundRect">
            <a:avLst>
              <a:gd name="adj" fmla="val 8421"/>
            </a:avLst>
          </a:prstGeom>
          <a:solidFill>
            <a:srgbClr val="0D1B3E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5440680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D9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</a:t>
            </a:r>
            <a:endParaRPr lang="en-US" sz="900" dirty="0"/>
          </a:p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dossier conforme, sans ressaisie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09160" y="1600200"/>
            <a:ext cx="7022592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1" name="Image 0" descr="C:\Users\GPSP\Desktop\cap-competence-manager\docs\presentation-shots\04-candida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64608" y="1755648"/>
            <a:ext cx="6711696" cy="448970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A5F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70432" y="38404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Clients pro (B2B)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70432" y="1024128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Gérez vos entreprises clientes aussi simplement que les particuliers.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3977640" cy="4800600"/>
          </a:xfrm>
          <a:prstGeom prst="roundRect">
            <a:avLst>
              <a:gd name="adj" fmla="val 1839"/>
            </a:avLst>
          </a:prstGeom>
          <a:solidFill>
            <a:srgbClr val="F1F5FC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828800"/>
            <a:ext cx="35204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Coordonnées légales, salariés, financements OPCO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Conventions de formation entreprise générées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Copies automatiques des documents à l'entreprise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des conventions et des financeurs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13232" y="5349240"/>
            <a:ext cx="3465576" cy="868680"/>
          </a:xfrm>
          <a:prstGeom prst="roundRect">
            <a:avLst>
              <a:gd name="adj" fmla="val 8421"/>
            </a:avLst>
          </a:prstGeom>
          <a:solidFill>
            <a:srgbClr val="0D1B3E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5440680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D9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</a:t>
            </a:r>
            <a:endParaRPr lang="en-US" sz="900" dirty="0"/>
          </a:p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B2B géré sans effort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09160" y="1600200"/>
            <a:ext cx="7022592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1" name="Image 0" descr="C:\Users\GPSP\Desktop\cap-competence-manager\docs\presentation-shots\05-clients-pr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64608" y="1755648"/>
            <a:ext cx="6711696" cy="448970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A5F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70432" y="38404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Catalogue de formations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70432" y="1024128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source unique, réutilisée partout dans la plateforme.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3977640" cy="4800600"/>
          </a:xfrm>
          <a:prstGeom prst="roundRect">
            <a:avLst>
              <a:gd name="adj" fmla="val 1839"/>
            </a:avLst>
          </a:prstGeom>
          <a:solidFill>
            <a:srgbClr val="F1F5FC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828800"/>
            <a:ext cx="35204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Objectifs, public, prérequis, durée, modalités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Tarif, certification et n° RS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Réutilisé dans documents, sessions et statistiques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Toujours à jour et conforme Qualiopi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13232" y="5349240"/>
            <a:ext cx="3465576" cy="868680"/>
          </a:xfrm>
          <a:prstGeom prst="roundRect">
            <a:avLst>
              <a:gd name="adj" fmla="val 8421"/>
            </a:avLst>
          </a:prstGeom>
          <a:solidFill>
            <a:srgbClr val="0D1B3E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5440680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D9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</a:t>
            </a:r>
            <a:endParaRPr lang="en-US" sz="900" dirty="0"/>
          </a:p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catalogue toujours à jour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09160" y="1600200"/>
            <a:ext cx="7022592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1" name="Image 0" descr="C:\Users\GPSP\Desktop\cap-competence-manager\docs\presentation-shots\06-formation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64608" y="1755648"/>
            <a:ext cx="6711696" cy="448970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A5F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70432" y="38404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Sessions &amp; émargement dématérialisé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70432" y="1024128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Planifiez, remplissez et émargez — sans papier.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3977640" cy="4800600"/>
          </a:xfrm>
          <a:prstGeom prst="roundRect">
            <a:avLst>
              <a:gd name="adj" fmla="val 1839"/>
            </a:avLst>
          </a:prstGeom>
          <a:solidFill>
            <a:srgbClr val="F1F5FC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828800"/>
            <a:ext cx="35204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Planification et suivi du remplissage des sessions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Émargement signé en ligne, par demi-journée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Signé par les stagiaires et le formateur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des pièces par participant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13232" y="5349240"/>
            <a:ext cx="3465576" cy="868680"/>
          </a:xfrm>
          <a:prstGeom prst="roundRect">
            <a:avLst>
              <a:gd name="adj" fmla="val 8421"/>
            </a:avLst>
          </a:prstGeom>
          <a:solidFill>
            <a:srgbClr val="0D1B3E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5440680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D9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</a:t>
            </a:r>
            <a:endParaRPr lang="en-US" sz="900" dirty="0"/>
          </a:p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 les feuilles papier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09160" y="1600200"/>
            <a:ext cx="7022592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1" name="Image 0" descr="C:\Users\GPSP\Desktop\cap-competence-manager\docs\presentation-shots\07-session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64608" y="1755648"/>
            <a:ext cx="6711696" cy="448970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A5F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70432" y="38404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E-learning intégré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70432" y="1024128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offre 100 % distancielle, sans outil supplémentaire.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3977640" cy="4800600"/>
          </a:xfrm>
          <a:prstGeom prst="roundRect">
            <a:avLst>
              <a:gd name="adj" fmla="val 1839"/>
            </a:avLst>
          </a:prstGeom>
          <a:solidFill>
            <a:srgbClr val="F1F5FC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828800"/>
            <a:ext cx="35204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 organisés par pôle et par formation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Modules, leçons et quiz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de la progression des apprenants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 apprenant dédié et attestations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13232" y="5349240"/>
            <a:ext cx="3465576" cy="868680"/>
          </a:xfrm>
          <a:prstGeom prst="roundRect">
            <a:avLst>
              <a:gd name="adj" fmla="val 8421"/>
            </a:avLst>
          </a:prstGeom>
          <a:solidFill>
            <a:srgbClr val="0D1B3E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5440680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D9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</a:t>
            </a:r>
            <a:endParaRPr lang="en-US" sz="900" dirty="0"/>
          </a:p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distanciel intégré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09160" y="1600200"/>
            <a:ext cx="7022592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1" name="Image 0" descr="C:\Users\GPSP\Desktop\cap-competence-manager\docs\presentation-shots\08-elearn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64608" y="1755648"/>
            <a:ext cx="6711696" cy="448970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A5F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70432" y="38404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 automatismes — le gros gain de temps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70432" y="1024128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parcours administratif d'une session tourne tout seul.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3977640" cy="4800600"/>
          </a:xfrm>
          <a:prstGeom prst="roundRect">
            <a:avLst>
              <a:gd name="adj" fmla="val 1839"/>
            </a:avLst>
          </a:prstGeom>
          <a:solidFill>
            <a:srgbClr val="F1F5FC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828800"/>
            <a:ext cx="35204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Convocation 7 jours avant le début (documents signés joints)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Attestation d'entrée le 1er jour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Émargement quotidien (matin / après-midi)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Enquête de satisfaction à la fin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Attestation de fin + certificat de réalisation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13232" y="5349240"/>
            <a:ext cx="3465576" cy="868680"/>
          </a:xfrm>
          <a:prstGeom prst="roundRect">
            <a:avLst>
              <a:gd name="adj" fmla="val 8421"/>
            </a:avLst>
          </a:prstGeom>
          <a:solidFill>
            <a:srgbClr val="0D1B3E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5440680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D9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</a:t>
            </a:r>
            <a:endParaRPr lang="en-US" sz="900" dirty="0"/>
          </a:p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e-mails partent tout seuls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09160" y="1600200"/>
            <a:ext cx="7022592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1" name="Image 0" descr="C:\Users\GPSP\Desktop\cap-competence-manager\docs\presentation-shots\10-automatisation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64608" y="1755648"/>
            <a:ext cx="6711696" cy="448970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A5F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70432" y="38404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Signatures électroniques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70432" y="1024128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Signez en ligne, en sécurité — sans impression ni scan.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3977640" cy="4800600"/>
          </a:xfrm>
          <a:prstGeom prst="roundRect">
            <a:avLst>
              <a:gd name="adj" fmla="val 1839"/>
            </a:avLst>
          </a:prstGeom>
          <a:solidFill>
            <a:srgbClr val="F1F5FC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828800"/>
            <a:ext cx="35204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Contrats, conventions et feuilles d'émargement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manuscrite ou prestataire (Yousign)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Sécurisée et horodatée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Traçabilité complète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13232" y="5349240"/>
            <a:ext cx="3465576" cy="868680"/>
          </a:xfrm>
          <a:prstGeom prst="roundRect">
            <a:avLst>
              <a:gd name="adj" fmla="val 8421"/>
            </a:avLst>
          </a:prstGeom>
          <a:solidFill>
            <a:srgbClr val="0D1B3E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5440680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D9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</a:t>
            </a:r>
            <a:endParaRPr lang="en-US" sz="900" dirty="0"/>
          </a:p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signatures conformes en un clic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09160" y="1600200"/>
            <a:ext cx="7022592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1" name="Image 0" descr="C:\Users\GPSP\Desktop\cap-competence-manager\docs\presentation-shots\09-signatur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64608" y="1755648"/>
            <a:ext cx="6711696" cy="448970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A5F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70432" y="38404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Suivi comptable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70432" y="1024128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trésorerie et vos impayés sous contrôle, en temps réel.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3977640" cy="4800600"/>
          </a:xfrm>
          <a:prstGeom prst="roundRect">
            <a:avLst>
              <a:gd name="adj" fmla="val 1839"/>
            </a:avLst>
          </a:prstGeom>
          <a:solidFill>
            <a:srgbClr val="F1F5FC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828800"/>
            <a:ext cx="35204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États par candidat : payé / partiel / impayé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Modes de financement : CPF, OPCO, entreprise…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Récap par mois et par année, clients non soldés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Règlements enregistrés avec traçabilité du collaborateur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13232" y="5349240"/>
            <a:ext cx="3465576" cy="868680"/>
          </a:xfrm>
          <a:prstGeom prst="roundRect">
            <a:avLst>
              <a:gd name="adj" fmla="val 8421"/>
            </a:avLst>
          </a:prstGeom>
          <a:solidFill>
            <a:srgbClr val="0D1B3E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5440680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D9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</a:t>
            </a:r>
            <a:endParaRPr lang="en-US" sz="900" dirty="0"/>
          </a:p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 impayés sous contrôle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09160" y="1600200"/>
            <a:ext cx="7022592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1" name="Image 0" descr="C:\Users\GPSP\Desktop\cap-competence-manager\docs\presentation-shots\12-suivi-comptab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64608" y="1755648"/>
            <a:ext cx="6711696" cy="448970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A5F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70432" y="38404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Conformité Qualiopi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70432" y="1024128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conformité intégrée, prête pour l'audit à tout moment.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3977640" cy="4800600"/>
          </a:xfrm>
          <a:prstGeom prst="roundRect">
            <a:avLst>
              <a:gd name="adj" fmla="val 1839"/>
            </a:avLst>
          </a:prstGeom>
          <a:solidFill>
            <a:srgbClr val="F1F5FC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828800"/>
            <a:ext cx="35204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Indicateurs Qualiopi et preuves centralisés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Registre des réclamations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Veille et partenaires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générés sur des trames conformes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13232" y="5349240"/>
            <a:ext cx="3465576" cy="868680"/>
          </a:xfrm>
          <a:prstGeom prst="roundRect">
            <a:avLst>
              <a:gd name="adj" fmla="val 8421"/>
            </a:avLst>
          </a:prstGeom>
          <a:solidFill>
            <a:srgbClr val="0D1B3E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5440680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D9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</a:t>
            </a:r>
            <a:endParaRPr lang="en-US" sz="900" dirty="0"/>
          </a:p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Toujours prêt pour l'audit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09160" y="1600200"/>
            <a:ext cx="7022592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1" name="Image 0" descr="C:\Users\GPSP\Desktop\cap-competence-manager\docs\presentation-shots\14-qualiopi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64608" y="1755648"/>
            <a:ext cx="6711696" cy="448970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A5F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70432" y="38404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Bilan Pédagogique &amp; Financier (BPF)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70432" y="1024128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BPF généré automatiquement à partir de vos données réelles.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3977640" cy="4800600"/>
          </a:xfrm>
          <a:prstGeom prst="roundRect">
            <a:avLst>
              <a:gd name="adj" fmla="val 1839"/>
            </a:avLst>
          </a:prstGeom>
          <a:solidFill>
            <a:srgbClr val="F1F5FC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828800"/>
            <a:ext cx="35204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Heures, stagiaires, financements agrégés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Réparti par formation et par formateur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de reconstitution manuelle dans Excel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Exportable pour votre déclaration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13232" y="5349240"/>
            <a:ext cx="3465576" cy="868680"/>
          </a:xfrm>
          <a:prstGeom prst="roundRect">
            <a:avLst>
              <a:gd name="adj" fmla="val 8421"/>
            </a:avLst>
          </a:prstGeom>
          <a:solidFill>
            <a:srgbClr val="0D1B3E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5440680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D9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</a:t>
            </a:r>
            <a:endParaRPr lang="en-US" sz="900" dirty="0"/>
          </a:p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BPF en minutes, pas en jours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09160" y="1600200"/>
            <a:ext cx="7022592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1" name="Image 0" descr="C:\Users\GPSP\Desktop\cap-competence-manager\docs\presentation-shots\13-bpf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64608" y="1755648"/>
            <a:ext cx="6711696" cy="448970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A5F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70432" y="38404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RGPD &amp; traçabilité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70432" y="1024128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protection des données intégrée à votre gestion.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3977640" cy="4800600"/>
          </a:xfrm>
          <a:prstGeom prst="roundRect">
            <a:avLst>
              <a:gd name="adj" fmla="val 1839"/>
            </a:avLst>
          </a:prstGeom>
          <a:solidFill>
            <a:srgbClr val="F1F5FC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828800"/>
            <a:ext cx="35204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des consentements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demandes de données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d'audit des actions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 au RGPD facilitée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13232" y="5349240"/>
            <a:ext cx="3465576" cy="868680"/>
          </a:xfrm>
          <a:prstGeom prst="roundRect">
            <a:avLst>
              <a:gd name="adj" fmla="val 8421"/>
            </a:avLst>
          </a:prstGeom>
          <a:solidFill>
            <a:srgbClr val="0D1B3E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5440680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D9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</a:t>
            </a:r>
            <a:endParaRPr lang="en-US" sz="900" dirty="0"/>
          </a:p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 RGPD simplifiée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09160" y="1600200"/>
            <a:ext cx="7022592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1" name="Image 0" descr="C:\Users\GPSP\Desktop\cap-competence-manager\docs\presentation-shots\15-rgp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64608" y="1755648"/>
            <a:ext cx="6711696" cy="448970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A5F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17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70432" y="38404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À votre image &amp; multi-comptes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70432" y="1024128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outil de gestion interne, sur-mesure et sécurisé.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3977640" cy="4800600"/>
          </a:xfrm>
          <a:prstGeom prst="roundRect">
            <a:avLst>
              <a:gd name="adj" fmla="val 1839"/>
            </a:avLst>
          </a:prstGeom>
          <a:solidFill>
            <a:srgbClr val="F1F5FC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828800"/>
            <a:ext cx="35204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Logo, couleurs, coordonnées et documents personnalisés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Comptes : gérant, responsable, assistant, formateur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Droits par section (CRM, candidats, compta, Qualiopi…)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Chacun ne voit que ce qui le concerne — données isolées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13232" y="5349240"/>
            <a:ext cx="3465576" cy="868680"/>
          </a:xfrm>
          <a:prstGeom prst="roundRect">
            <a:avLst>
              <a:gd name="adj" fmla="val 8421"/>
            </a:avLst>
          </a:prstGeom>
          <a:solidFill>
            <a:srgbClr val="0D1B3E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5440680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D9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</a:t>
            </a:r>
            <a:endParaRPr lang="en-US" sz="900" dirty="0"/>
          </a:p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Délégez en toute sécurité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09160" y="1600200"/>
            <a:ext cx="7022592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1" name="Image 0" descr="C:\Users\GPSP\Desktop\cap-competence-manager\docs\presentation-shots\16-administra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64608" y="1755648"/>
            <a:ext cx="6711696" cy="448970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A5F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70432" y="38404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Modules avancés — à la carte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70432" y="1024128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options à activer en un clic pour monter en gamme, selon les besoins du client.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2035454" cy="1874520"/>
          </a:xfrm>
          <a:prstGeom prst="roundRect">
            <a:avLst>
              <a:gd name="adj" fmla="val 3902"/>
            </a:avLst>
          </a:prstGeom>
          <a:solidFill>
            <a:srgbClr val="F1F5FC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691640"/>
            <a:ext cx="2035454" cy="109728"/>
          </a:xfrm>
          <a:prstGeom prst="rect">
            <a:avLst/>
          </a:prstGeom>
          <a:solidFill>
            <a:srgbClr val="4D9FFF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892808"/>
            <a:ext cx="18159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Pipeline Kanban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2560320"/>
            <a:ext cx="181599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Glisser-déposer + prévisionnel pondéré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66974" y="1691640"/>
            <a:ext cx="2035454" cy="1874520"/>
          </a:xfrm>
          <a:prstGeom prst="roundRect">
            <a:avLst>
              <a:gd name="adj" fmla="val 3902"/>
            </a:avLst>
          </a:prstGeom>
          <a:solidFill>
            <a:srgbClr val="F1F5FC"/>
          </a:solidFill>
          <a:ln/>
        </p:spPr>
      </p:sp>
      <p:sp>
        <p:nvSpPr>
          <p:cNvPr id="11" name="Shape 9"/>
          <p:cNvSpPr/>
          <p:nvPr/>
        </p:nvSpPr>
        <p:spPr>
          <a:xfrm>
            <a:off x="2766974" y="1691640"/>
            <a:ext cx="2035454" cy="109728"/>
          </a:xfrm>
          <a:prstGeom prst="rect">
            <a:avLst/>
          </a:prstGeom>
          <a:solidFill>
            <a:srgbClr val="4D9FFF"/>
          </a:solidFill>
          <a:ln/>
        </p:spPr>
      </p:sp>
      <p:sp>
        <p:nvSpPr>
          <p:cNvPr id="12" name="Text 10"/>
          <p:cNvSpPr/>
          <p:nvPr/>
        </p:nvSpPr>
        <p:spPr>
          <a:xfrm>
            <a:off x="2876702" y="1892808"/>
            <a:ext cx="18159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Tâches &amp; rappels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876702" y="2560320"/>
            <a:ext cx="181599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commercial, échéances, relances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76749" y="1691640"/>
            <a:ext cx="2035454" cy="1874520"/>
          </a:xfrm>
          <a:prstGeom prst="roundRect">
            <a:avLst>
              <a:gd name="adj" fmla="val 3902"/>
            </a:avLst>
          </a:prstGeom>
          <a:solidFill>
            <a:srgbClr val="F1F5FC"/>
          </a:solidFill>
          <a:ln/>
        </p:spPr>
      </p:sp>
      <p:sp>
        <p:nvSpPr>
          <p:cNvPr id="15" name="Shape 13"/>
          <p:cNvSpPr/>
          <p:nvPr/>
        </p:nvSpPr>
        <p:spPr>
          <a:xfrm>
            <a:off x="5076749" y="1691640"/>
            <a:ext cx="2035454" cy="109728"/>
          </a:xfrm>
          <a:prstGeom prst="rect">
            <a:avLst/>
          </a:prstGeom>
          <a:solidFill>
            <a:srgbClr val="4D9FFF"/>
          </a:solidFill>
          <a:ln/>
        </p:spPr>
      </p:sp>
      <p:sp>
        <p:nvSpPr>
          <p:cNvPr id="16" name="Text 14"/>
          <p:cNvSpPr/>
          <p:nvPr/>
        </p:nvSpPr>
        <p:spPr>
          <a:xfrm>
            <a:off x="5186477" y="1892808"/>
            <a:ext cx="18159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Notifications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186477" y="2560320"/>
            <a:ext cx="181599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Leads, relances, impayés, devis à signer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386523" y="1691640"/>
            <a:ext cx="2035454" cy="1874520"/>
          </a:xfrm>
          <a:prstGeom prst="roundRect">
            <a:avLst>
              <a:gd name="adj" fmla="val 3902"/>
            </a:avLst>
          </a:prstGeom>
          <a:solidFill>
            <a:srgbClr val="F1F5FC"/>
          </a:solidFill>
          <a:ln/>
        </p:spPr>
      </p:sp>
      <p:sp>
        <p:nvSpPr>
          <p:cNvPr id="19" name="Shape 17"/>
          <p:cNvSpPr/>
          <p:nvPr/>
        </p:nvSpPr>
        <p:spPr>
          <a:xfrm>
            <a:off x="7386523" y="1691640"/>
            <a:ext cx="2035454" cy="109728"/>
          </a:xfrm>
          <a:prstGeom prst="rect">
            <a:avLst/>
          </a:prstGeom>
          <a:solidFill>
            <a:srgbClr val="4D9FFF"/>
          </a:solidFill>
          <a:ln/>
        </p:spPr>
      </p:sp>
      <p:sp>
        <p:nvSpPr>
          <p:cNvPr id="20" name="Text 18"/>
          <p:cNvSpPr/>
          <p:nvPr/>
        </p:nvSpPr>
        <p:spPr>
          <a:xfrm>
            <a:off x="7496251" y="1892808"/>
            <a:ext cx="18159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Signature du devis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496251" y="2560320"/>
            <a:ext cx="181599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Bon pour accord » en ligne, en 1 clic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696298" y="1691640"/>
            <a:ext cx="2035454" cy="1874520"/>
          </a:xfrm>
          <a:prstGeom prst="roundRect">
            <a:avLst>
              <a:gd name="adj" fmla="val 3902"/>
            </a:avLst>
          </a:prstGeom>
          <a:solidFill>
            <a:srgbClr val="F1F5FC"/>
          </a:solidFill>
          <a:ln/>
        </p:spPr>
      </p:sp>
      <p:sp>
        <p:nvSpPr>
          <p:cNvPr id="23" name="Shape 21"/>
          <p:cNvSpPr/>
          <p:nvPr/>
        </p:nvSpPr>
        <p:spPr>
          <a:xfrm>
            <a:off x="9696298" y="1691640"/>
            <a:ext cx="2035454" cy="109728"/>
          </a:xfrm>
          <a:prstGeom prst="rect">
            <a:avLst/>
          </a:prstGeom>
          <a:solidFill>
            <a:srgbClr val="4D9FFF"/>
          </a:solidFill>
          <a:ln/>
        </p:spPr>
      </p:sp>
      <p:sp>
        <p:nvSpPr>
          <p:cNvPr id="24" name="Text 22"/>
          <p:cNvSpPr/>
          <p:nvPr/>
        </p:nvSpPr>
        <p:spPr>
          <a:xfrm>
            <a:off x="9806026" y="1892808"/>
            <a:ext cx="18159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Leads multi-canal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9806026" y="2560320"/>
            <a:ext cx="181599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+ EDOF (CPF) / Kairos centralisés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3840480"/>
            <a:ext cx="2035454" cy="1874520"/>
          </a:xfrm>
          <a:prstGeom prst="roundRect">
            <a:avLst>
              <a:gd name="adj" fmla="val 3902"/>
            </a:avLst>
          </a:prstGeom>
          <a:solidFill>
            <a:srgbClr val="F1F5FC"/>
          </a:solidFill>
          <a:ln/>
        </p:spPr>
      </p:sp>
      <p:sp>
        <p:nvSpPr>
          <p:cNvPr id="27" name="Shape 25"/>
          <p:cNvSpPr/>
          <p:nvPr/>
        </p:nvSpPr>
        <p:spPr>
          <a:xfrm>
            <a:off x="457200" y="3840480"/>
            <a:ext cx="2035454" cy="109728"/>
          </a:xfrm>
          <a:prstGeom prst="rect">
            <a:avLst/>
          </a:prstGeom>
          <a:solidFill>
            <a:srgbClr val="4D9FFF"/>
          </a:solidFill>
          <a:ln/>
        </p:spPr>
      </p:sp>
      <p:sp>
        <p:nvSpPr>
          <p:cNvPr id="28" name="Text 26"/>
          <p:cNvSpPr/>
          <p:nvPr/>
        </p:nvSpPr>
        <p:spPr>
          <a:xfrm>
            <a:off x="566928" y="4041648"/>
            <a:ext cx="18159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SMS &amp; séquences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66928" y="4709160"/>
            <a:ext cx="181599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Convocations, rappels et relances SMS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66974" y="3840480"/>
            <a:ext cx="2035454" cy="1874520"/>
          </a:xfrm>
          <a:prstGeom prst="roundRect">
            <a:avLst>
              <a:gd name="adj" fmla="val 3902"/>
            </a:avLst>
          </a:prstGeom>
          <a:solidFill>
            <a:srgbClr val="F1F5FC"/>
          </a:solidFill>
          <a:ln/>
        </p:spPr>
      </p:sp>
      <p:sp>
        <p:nvSpPr>
          <p:cNvPr id="31" name="Shape 29"/>
          <p:cNvSpPr/>
          <p:nvPr/>
        </p:nvSpPr>
        <p:spPr>
          <a:xfrm>
            <a:off x="2766974" y="3840480"/>
            <a:ext cx="2035454" cy="109728"/>
          </a:xfrm>
          <a:prstGeom prst="rect">
            <a:avLst/>
          </a:prstGeom>
          <a:solidFill>
            <a:srgbClr val="4D9FFF"/>
          </a:solidFill>
          <a:ln/>
        </p:spPr>
      </p:sp>
      <p:sp>
        <p:nvSpPr>
          <p:cNvPr id="32" name="Text 30"/>
          <p:cNvSpPr/>
          <p:nvPr/>
        </p:nvSpPr>
        <p:spPr>
          <a:xfrm>
            <a:off x="2876702" y="4041648"/>
            <a:ext cx="18159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Espace client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2876702" y="4709160"/>
            <a:ext cx="181599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Portail B2B self-service (salariés, factures)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076749" y="3840480"/>
            <a:ext cx="2035454" cy="1874520"/>
          </a:xfrm>
          <a:prstGeom prst="roundRect">
            <a:avLst>
              <a:gd name="adj" fmla="val 3902"/>
            </a:avLst>
          </a:prstGeom>
          <a:solidFill>
            <a:srgbClr val="F1F5FC"/>
          </a:solidFill>
          <a:ln/>
        </p:spPr>
      </p:sp>
      <p:sp>
        <p:nvSpPr>
          <p:cNvPr id="35" name="Shape 33"/>
          <p:cNvSpPr/>
          <p:nvPr/>
        </p:nvSpPr>
        <p:spPr>
          <a:xfrm>
            <a:off x="5076749" y="3840480"/>
            <a:ext cx="2035454" cy="109728"/>
          </a:xfrm>
          <a:prstGeom prst="rect">
            <a:avLst/>
          </a:prstGeom>
          <a:solidFill>
            <a:srgbClr val="4D9FFF"/>
          </a:solidFill>
          <a:ln/>
        </p:spPr>
      </p:sp>
      <p:sp>
        <p:nvSpPr>
          <p:cNvPr id="36" name="Text 34"/>
          <p:cNvSpPr/>
          <p:nvPr/>
        </p:nvSpPr>
        <p:spPr>
          <a:xfrm>
            <a:off x="5186477" y="4041648"/>
            <a:ext cx="18159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Rapports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5186477" y="4709160"/>
            <a:ext cx="181599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Conversion, CA prévisionnel, acquisition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386523" y="3840480"/>
            <a:ext cx="2035454" cy="1874520"/>
          </a:xfrm>
          <a:prstGeom prst="roundRect">
            <a:avLst>
              <a:gd name="adj" fmla="val 3902"/>
            </a:avLst>
          </a:prstGeom>
          <a:solidFill>
            <a:srgbClr val="F1F5FC"/>
          </a:solidFill>
          <a:ln/>
        </p:spPr>
      </p:sp>
      <p:sp>
        <p:nvSpPr>
          <p:cNvPr id="39" name="Shape 37"/>
          <p:cNvSpPr/>
          <p:nvPr/>
        </p:nvSpPr>
        <p:spPr>
          <a:xfrm>
            <a:off x="7386523" y="3840480"/>
            <a:ext cx="2035454" cy="109728"/>
          </a:xfrm>
          <a:prstGeom prst="rect">
            <a:avLst/>
          </a:prstGeom>
          <a:solidFill>
            <a:srgbClr val="4D9FFF"/>
          </a:solidFill>
          <a:ln/>
        </p:spPr>
      </p:sp>
      <p:sp>
        <p:nvSpPr>
          <p:cNvPr id="40" name="Text 38"/>
          <p:cNvSpPr/>
          <p:nvPr/>
        </p:nvSpPr>
        <p:spPr>
          <a:xfrm>
            <a:off x="7496251" y="4041648"/>
            <a:ext cx="18159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Scoring prospects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7496251" y="4709160"/>
            <a:ext cx="181599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Priorisation auto : chaud / tiède / froid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9696298" y="3840480"/>
            <a:ext cx="2035454" cy="1874520"/>
          </a:xfrm>
          <a:prstGeom prst="roundRect">
            <a:avLst>
              <a:gd name="adj" fmla="val 3902"/>
            </a:avLst>
          </a:prstGeom>
          <a:solidFill>
            <a:srgbClr val="F1F5FC"/>
          </a:solidFill>
          <a:ln/>
        </p:spPr>
      </p:sp>
      <p:sp>
        <p:nvSpPr>
          <p:cNvPr id="43" name="Shape 41"/>
          <p:cNvSpPr/>
          <p:nvPr/>
        </p:nvSpPr>
        <p:spPr>
          <a:xfrm>
            <a:off x="9696298" y="3840480"/>
            <a:ext cx="2035454" cy="109728"/>
          </a:xfrm>
          <a:prstGeom prst="rect">
            <a:avLst/>
          </a:prstGeom>
          <a:solidFill>
            <a:srgbClr val="4D9FFF"/>
          </a:solidFill>
          <a:ln/>
        </p:spPr>
      </p:sp>
      <p:sp>
        <p:nvSpPr>
          <p:cNvPr id="44" name="Text 42"/>
          <p:cNvSpPr/>
          <p:nvPr/>
        </p:nvSpPr>
        <p:spPr>
          <a:xfrm>
            <a:off x="9806026" y="4041648"/>
            <a:ext cx="18159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Assistant IA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9806026" y="4709160"/>
            <a:ext cx="181599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Relances, qualification, résumés (Claude)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57200" y="580644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A5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Activables individuellement par organisme depuis la console — inclus dans la formule Premium.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A5F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70432" y="38404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Pipeline Kanban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70432" y="1024128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Pilotez vos opportunités d'un glissement, étape par étape.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3977640" cy="4800600"/>
          </a:xfrm>
          <a:prstGeom prst="roundRect">
            <a:avLst>
              <a:gd name="adj" fmla="val 1839"/>
            </a:avLst>
          </a:prstGeom>
          <a:solidFill>
            <a:srgbClr val="F1F5FC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828800"/>
            <a:ext cx="35204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Colonnes du pipeline : nouveau → gagné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Glisser-déposer pour faire avancer un prospect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 estimée et prévisionnel pondéré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commerciale claire en temps réel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13232" y="5349240"/>
            <a:ext cx="3465576" cy="868680"/>
          </a:xfrm>
          <a:prstGeom prst="roundRect">
            <a:avLst>
              <a:gd name="adj" fmla="val 8421"/>
            </a:avLst>
          </a:prstGeom>
          <a:solidFill>
            <a:srgbClr val="0D1B3E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5440680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D9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</a:t>
            </a:r>
            <a:endParaRPr lang="en-US" sz="900" dirty="0"/>
          </a:p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commercial sous contrôle visuel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09160" y="1600200"/>
            <a:ext cx="7022592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1" name="Image 0" descr="C:\Users\GPSP\Desktop\cap-competence-manager\docs\presentation-shots\22-kanba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64608" y="1755648"/>
            <a:ext cx="6711696" cy="448970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A5F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70432" y="38404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Notifications &amp; alertes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70432" y="1024128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ratez plus jamais une action à mener.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3977640" cy="4800600"/>
          </a:xfrm>
          <a:prstGeom prst="roundRect">
            <a:avLst>
              <a:gd name="adj" fmla="val 1839"/>
            </a:avLst>
          </a:prstGeom>
          <a:solidFill>
            <a:srgbClr val="F1F5FC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828800"/>
            <a:ext cx="35204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Nouveaux leads, relances dues, tâches en retard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Devis à signer, factures à encaisser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 « non lus » dans la barre + centre dédié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est dérivé de vos données, sans saisie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13232" y="5349240"/>
            <a:ext cx="3465576" cy="868680"/>
          </a:xfrm>
          <a:prstGeom prst="roundRect">
            <a:avLst>
              <a:gd name="adj" fmla="val 8421"/>
            </a:avLst>
          </a:prstGeom>
          <a:solidFill>
            <a:srgbClr val="0D1B3E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5440680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D9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</a:t>
            </a:r>
            <a:endParaRPr lang="en-US" sz="900" dirty="0"/>
          </a:p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Zéro relance oubliée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09160" y="1600200"/>
            <a:ext cx="7022592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1" name="Image 0" descr="C:\Users\GPSP\Desktop\cap-competence-manager\docs\presentation-shots\17-notifications-p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64608" y="1755648"/>
            <a:ext cx="6711696" cy="448970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A5F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70432" y="38404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Capture de leads multi-canal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70432" y="1024128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Centralisez tous vos prospects, quelle que soit la source.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3977640" cy="4800600"/>
          </a:xfrm>
          <a:prstGeom prst="roundRect">
            <a:avLst>
              <a:gd name="adj" fmla="val 1839"/>
            </a:avLst>
          </a:prstGeom>
          <a:solidFill>
            <a:srgbClr val="F1F5FC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828800"/>
            <a:ext cx="35204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 web → CRM via une API simple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EDOF (CPF) &amp; Kairos importés en un clic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Répartition par canal d'acquisition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récents en un coup d'œil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13232" y="5349240"/>
            <a:ext cx="3465576" cy="868680"/>
          </a:xfrm>
          <a:prstGeom prst="roundRect">
            <a:avLst>
              <a:gd name="adj" fmla="val 8421"/>
            </a:avLst>
          </a:prstGeom>
          <a:solidFill>
            <a:srgbClr val="0D1B3E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5440680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D9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</a:t>
            </a:r>
            <a:endParaRPr lang="en-US" sz="900" dirty="0"/>
          </a:p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vos sources réunies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09160" y="1600200"/>
            <a:ext cx="7022592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1" name="Image 0" descr="C:\Users\GPSP\Desktop\cap-competence-manager\docs\presentation-shots\20-lead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64608" y="1755648"/>
            <a:ext cx="6711696" cy="448970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A5F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70432" y="38404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Scoring &amp; segmentation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70432" y="1024128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Priorisez automatiquement les prospects les plus chauds.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3977640" cy="4800600"/>
          </a:xfrm>
          <a:prstGeom prst="roundRect">
            <a:avLst>
              <a:gd name="adj" fmla="val 1839"/>
            </a:avLst>
          </a:prstGeom>
          <a:solidFill>
            <a:srgbClr val="F1F5FC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828800"/>
            <a:ext cx="35204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d'engagement 0–100 calculé tout seul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 chaud / tiède / froid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Basé sur coordonnées, étape, valeur, échanges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 commerciaux savent qui rappeler d'abord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13232" y="5349240"/>
            <a:ext cx="3465576" cy="868680"/>
          </a:xfrm>
          <a:prstGeom prst="roundRect">
            <a:avLst>
              <a:gd name="adj" fmla="val 8421"/>
            </a:avLst>
          </a:prstGeom>
          <a:solidFill>
            <a:srgbClr val="0D1B3E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5440680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D9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</a:t>
            </a:r>
            <a:endParaRPr lang="en-US" sz="900" dirty="0"/>
          </a:p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bon prospect, au bon moment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09160" y="1600200"/>
            <a:ext cx="7022592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1" name="Image 0" descr="C:\Users\GPSP\Desktop\cap-competence-manager\docs\presentation-shots\19-scor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64608" y="1755648"/>
            <a:ext cx="6711696" cy="448970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A5F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70432" y="38404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Rapports analytiques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70432" y="1024128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Pilotez l'activité avec des chiffres consolidés.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3977640" cy="4800600"/>
          </a:xfrm>
          <a:prstGeom prst="roundRect">
            <a:avLst>
              <a:gd name="adj" fmla="val 1839"/>
            </a:avLst>
          </a:prstGeom>
          <a:solidFill>
            <a:srgbClr val="F1F5FC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828800"/>
            <a:ext cx="35204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conversion et CA prévisionnel pondéré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d'acquisition et remplissage des sessions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Devis émis / acceptés, revenus encaissés / en attente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vue de direction, sans tableur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13232" y="5349240"/>
            <a:ext cx="3465576" cy="868680"/>
          </a:xfrm>
          <a:prstGeom prst="roundRect">
            <a:avLst>
              <a:gd name="adj" fmla="val 8421"/>
            </a:avLst>
          </a:prstGeom>
          <a:solidFill>
            <a:srgbClr val="0D1B3E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5440680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D9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</a:t>
            </a:r>
            <a:endParaRPr lang="en-US" sz="900" dirty="0"/>
          </a:p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Décidez sur des données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09160" y="1600200"/>
            <a:ext cx="7022592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1" name="Image 0" descr="C:\Users\GPSP\Desktop\cap-competence-manager\docs\presentation-shots\18-rappor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64608" y="1755648"/>
            <a:ext cx="6711696" cy="448970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A5F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70432" y="38404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Assistant IA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70432" y="1024128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Rédigez relances et qualifications en quelques secondes.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3977640" cy="4800600"/>
          </a:xfrm>
          <a:prstGeom prst="roundRect">
            <a:avLst>
              <a:gd name="adj" fmla="val 1839"/>
            </a:avLst>
          </a:prstGeom>
          <a:solidFill>
            <a:srgbClr val="F1F5FC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828800"/>
            <a:ext cx="35204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Rédaction d'e-mails de relance personnalisés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Qualification de prospect + prochaine action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Résumé de l'historique d'un dossier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Propulsé par Claude, à votre image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13232" y="5349240"/>
            <a:ext cx="3465576" cy="868680"/>
          </a:xfrm>
          <a:prstGeom prst="roundRect">
            <a:avLst>
              <a:gd name="adj" fmla="val 8421"/>
            </a:avLst>
          </a:prstGeom>
          <a:solidFill>
            <a:srgbClr val="0D1B3E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5440680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D9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</a:t>
            </a:r>
            <a:endParaRPr lang="en-US" sz="900" dirty="0"/>
          </a:p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Gagnez du temps sur l'écrit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09160" y="1600200"/>
            <a:ext cx="7022592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1" name="Image 0" descr="C:\Users\GPSP\Desktop\cap-competence-manager\docs\presentation-shots\21-assistant-i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64608" y="1755648"/>
            <a:ext cx="6711696" cy="4489704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A5F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70432" y="38404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Signature électronique du devis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70432" y="1024128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Faites accepter vos devis à distance, en un clic.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3977640" cy="4800600"/>
          </a:xfrm>
          <a:prstGeom prst="roundRect">
            <a:avLst>
              <a:gd name="adj" fmla="val 1839"/>
            </a:avLst>
          </a:prstGeom>
          <a:solidFill>
            <a:srgbClr val="F1F5FC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828800"/>
            <a:ext cx="35204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 sécurisé envoyé au client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Bon pour accord » signé en ligne, horodaté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Adresse IP enregistrée, valeur probante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reportée sur le devis imprimable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13232" y="5349240"/>
            <a:ext cx="3465576" cy="868680"/>
          </a:xfrm>
          <a:prstGeom prst="roundRect">
            <a:avLst>
              <a:gd name="adj" fmla="val 8421"/>
            </a:avLst>
          </a:prstGeom>
          <a:solidFill>
            <a:srgbClr val="0D1B3E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5440680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D9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</a:t>
            </a:r>
            <a:endParaRPr lang="en-US" sz="900" dirty="0"/>
          </a:p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devis signés plus vite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09160" y="1600200"/>
            <a:ext cx="7022592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1" name="Image 0" descr="C:\Users\GPSP\Desktop\cap-competence-manager\docs\presentation-shots\26-devis-signatu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64608" y="1755648"/>
            <a:ext cx="6711696" cy="448970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A5F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70432" y="38404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Espace client entreprise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70432" y="1024128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Offrez à vos clients B2B un portail self-service.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3977640" cy="4800600"/>
          </a:xfrm>
          <a:prstGeom prst="roundRect">
            <a:avLst>
              <a:gd name="adj" fmla="val 1839"/>
            </a:avLst>
          </a:prstGeom>
          <a:solidFill>
            <a:srgbClr val="F1F5FC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828800"/>
            <a:ext cx="35204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 sécurisé en lecture seule par entreprise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Salariés en formation, conventions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Devis et factures consultables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Moins de sollicitations, plus de service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13232" y="5349240"/>
            <a:ext cx="3465576" cy="868680"/>
          </a:xfrm>
          <a:prstGeom prst="roundRect">
            <a:avLst>
              <a:gd name="adj" fmla="val 8421"/>
            </a:avLst>
          </a:prstGeom>
          <a:solidFill>
            <a:srgbClr val="0D1B3E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5440680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D9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</a:t>
            </a:r>
            <a:endParaRPr lang="en-US" sz="900" dirty="0"/>
          </a:p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service B2B différenciant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09160" y="1600200"/>
            <a:ext cx="7022592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1" name="Image 0" descr="C:\Users\GPSP\Desktop\cap-competence-manager\docs\presentation-shots\25-portail-clien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64608" y="1755648"/>
            <a:ext cx="6711696" cy="4489704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A5F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27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70432" y="38404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Trois formules, claires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70432" y="1024128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digitalisation de base au pilotage commercial complet.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3514344" cy="4526280"/>
          </a:xfrm>
          <a:prstGeom prst="roundRect">
            <a:avLst>
              <a:gd name="adj" fmla="val 2602"/>
            </a:avLst>
          </a:prstGeom>
          <a:solidFill>
            <a:srgbClr val="F1F5FC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691640"/>
            <a:ext cx="3514344" cy="146304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965960"/>
            <a:ext cx="31485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Essentiel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2468880"/>
            <a:ext cx="31485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5F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dès 49 €/mois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3017520"/>
            <a:ext cx="3057144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Candidats &amp; inscriptions</a:t>
            </a:r>
            <a:endParaRPr lang="en-US" sz="11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&amp; émargement en ligne</a:t>
            </a:r>
            <a:endParaRPr lang="en-US" sz="11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&amp; signatures</a:t>
            </a:r>
            <a:endParaRPr lang="en-US" sz="11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Qualiopi, BPF, RGPD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37304" y="1691640"/>
            <a:ext cx="3514344" cy="4526280"/>
          </a:xfrm>
          <a:prstGeom prst="roundRect">
            <a:avLst>
              <a:gd name="adj" fmla="val 2602"/>
            </a:avLst>
          </a:prstGeom>
          <a:solidFill>
            <a:srgbClr val="0D1B3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37304" y="1691640"/>
            <a:ext cx="3514344" cy="146304"/>
          </a:xfrm>
          <a:prstGeom prst="rect">
            <a:avLst/>
          </a:prstGeom>
          <a:solidFill>
            <a:srgbClr val="1A5FD4"/>
          </a:solidFill>
          <a:ln/>
        </p:spPr>
      </p:sp>
      <p:sp>
        <p:nvSpPr>
          <p:cNvPr id="13" name="Text 11"/>
          <p:cNvSpPr/>
          <p:nvPr/>
        </p:nvSpPr>
        <p:spPr>
          <a:xfrm>
            <a:off x="4520184" y="1965960"/>
            <a:ext cx="31485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20184" y="2468880"/>
            <a:ext cx="31485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D9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dès 99 €/mois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65904" y="3017520"/>
            <a:ext cx="3057144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6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l'Essentiel</a:t>
            </a:r>
            <a:endParaRPr lang="en-US" sz="11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6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&amp; pipeline commercial</a:t>
            </a:r>
            <a:endParaRPr lang="en-US" sz="11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6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pro, comptabilité, devis</a:t>
            </a:r>
            <a:endParaRPr lang="en-US" sz="11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6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Planning, e-learning, automatisations</a:t>
            </a:r>
            <a:endParaRPr lang="en-US" sz="11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6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avancés en option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17408" y="1691640"/>
            <a:ext cx="3514344" cy="4526280"/>
          </a:xfrm>
          <a:prstGeom prst="roundRect">
            <a:avLst>
              <a:gd name="adj" fmla="val 2602"/>
            </a:avLst>
          </a:prstGeom>
          <a:solidFill>
            <a:srgbClr val="F1F5FC"/>
          </a:solidFill>
          <a:ln/>
        </p:spPr>
      </p:sp>
      <p:sp>
        <p:nvSpPr>
          <p:cNvPr id="17" name="Shape 15"/>
          <p:cNvSpPr/>
          <p:nvPr/>
        </p:nvSpPr>
        <p:spPr>
          <a:xfrm>
            <a:off x="8217408" y="1691640"/>
            <a:ext cx="3514344" cy="146304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18" name="Text 16"/>
          <p:cNvSpPr/>
          <p:nvPr/>
        </p:nvSpPr>
        <p:spPr>
          <a:xfrm>
            <a:off x="8400288" y="1965960"/>
            <a:ext cx="31485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Premium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400288" y="2468880"/>
            <a:ext cx="31485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5F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dès 179 €/mois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446008" y="3017520"/>
            <a:ext cx="3057144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le Pro</a:t>
            </a:r>
            <a:endParaRPr lang="en-US" sz="11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10 modules avancés inclus</a:t>
            </a:r>
            <a:endParaRPr lang="en-US" sz="11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Kanban, IA, SMS, rapports…</a:t>
            </a:r>
            <a:endParaRPr lang="en-US" sz="11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 client entreprise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Montants indicatifs — à ajuster. Multi-tenant, données isolées par organisme, hébergement UE.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A5F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28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70432" y="38404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gain de temps, chiffré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70432" y="1024128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Estimations à adapter à votre activité.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2544318" cy="3108960"/>
          </a:xfrm>
          <a:prstGeom prst="roundRect">
            <a:avLst>
              <a:gd name="adj" fmla="val 3594"/>
            </a:avLst>
          </a:prstGeom>
          <a:solidFill>
            <a:srgbClr val="F1F5FC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920240"/>
            <a:ext cx="2544318" cy="128016"/>
          </a:xfrm>
          <a:prstGeom prst="rect">
            <a:avLst/>
          </a:prstGeom>
          <a:solidFill>
            <a:srgbClr val="1A5FD4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331720"/>
            <a:ext cx="236143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A5F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~15 min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640080" y="3520440"/>
            <a:ext cx="217855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stagiaire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Convocations, attestations &amp; certificats automatiques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367278" y="1920240"/>
            <a:ext cx="2544318" cy="3108960"/>
          </a:xfrm>
          <a:prstGeom prst="roundRect">
            <a:avLst>
              <a:gd name="adj" fmla="val 3594"/>
            </a:avLst>
          </a:prstGeom>
          <a:solidFill>
            <a:srgbClr val="F1F5FC"/>
          </a:solidFill>
          <a:ln/>
        </p:spPr>
      </p:sp>
      <p:sp>
        <p:nvSpPr>
          <p:cNvPr id="11" name="Shape 9"/>
          <p:cNvSpPr/>
          <p:nvPr/>
        </p:nvSpPr>
        <p:spPr>
          <a:xfrm>
            <a:off x="3367278" y="1920240"/>
            <a:ext cx="2544318" cy="128016"/>
          </a:xfrm>
          <a:prstGeom prst="rect">
            <a:avLst/>
          </a:prstGeom>
          <a:solidFill>
            <a:srgbClr val="1A5FD4"/>
          </a:solidFill>
          <a:ln/>
        </p:spPr>
      </p:sp>
      <p:sp>
        <p:nvSpPr>
          <p:cNvPr id="12" name="Text 10"/>
          <p:cNvSpPr/>
          <p:nvPr/>
        </p:nvSpPr>
        <p:spPr>
          <a:xfrm>
            <a:off x="3458718" y="2331720"/>
            <a:ext cx="236143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A5F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~30 min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3550158" y="3520440"/>
            <a:ext cx="217855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session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Émargement dématérialisé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77356" y="1920240"/>
            <a:ext cx="2544318" cy="3108960"/>
          </a:xfrm>
          <a:prstGeom prst="roundRect">
            <a:avLst>
              <a:gd name="adj" fmla="val 3594"/>
            </a:avLst>
          </a:prstGeom>
          <a:solidFill>
            <a:srgbClr val="F1F5FC"/>
          </a:solidFill>
          <a:ln/>
        </p:spPr>
      </p:sp>
      <p:sp>
        <p:nvSpPr>
          <p:cNvPr id="15" name="Shape 13"/>
          <p:cNvSpPr/>
          <p:nvPr/>
        </p:nvSpPr>
        <p:spPr>
          <a:xfrm>
            <a:off x="6277356" y="1920240"/>
            <a:ext cx="2544318" cy="128016"/>
          </a:xfrm>
          <a:prstGeom prst="rect">
            <a:avLst/>
          </a:prstGeom>
          <a:solidFill>
            <a:srgbClr val="1A5FD4"/>
          </a:solidFill>
          <a:ln/>
        </p:spPr>
      </p:sp>
      <p:sp>
        <p:nvSpPr>
          <p:cNvPr id="16" name="Text 14"/>
          <p:cNvSpPr/>
          <p:nvPr/>
        </p:nvSpPr>
        <p:spPr>
          <a:xfrm>
            <a:off x="6368796" y="2331720"/>
            <a:ext cx="236143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A5F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instantané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6460236" y="3520440"/>
            <a:ext cx="217855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des conventions &amp; contrats (vs ~20 min)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87434" y="1920240"/>
            <a:ext cx="2544318" cy="3108960"/>
          </a:xfrm>
          <a:prstGeom prst="roundRect">
            <a:avLst>
              <a:gd name="adj" fmla="val 3594"/>
            </a:avLst>
          </a:prstGeom>
          <a:solidFill>
            <a:srgbClr val="F1F5FC"/>
          </a:solidFill>
          <a:ln/>
        </p:spPr>
      </p:sp>
      <p:sp>
        <p:nvSpPr>
          <p:cNvPr id="19" name="Shape 17"/>
          <p:cNvSpPr/>
          <p:nvPr/>
        </p:nvSpPr>
        <p:spPr>
          <a:xfrm>
            <a:off x="9187434" y="1920240"/>
            <a:ext cx="2544318" cy="128016"/>
          </a:xfrm>
          <a:prstGeom prst="rect">
            <a:avLst/>
          </a:prstGeom>
          <a:solidFill>
            <a:srgbClr val="1A5FD4"/>
          </a:solidFill>
          <a:ln/>
        </p:spPr>
      </p:sp>
      <p:sp>
        <p:nvSpPr>
          <p:cNvPr id="20" name="Text 18"/>
          <p:cNvSpPr/>
          <p:nvPr/>
        </p:nvSpPr>
        <p:spPr>
          <a:xfrm>
            <a:off x="9278874" y="2331720"/>
            <a:ext cx="236143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A5F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minutes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9370314" y="3520440"/>
            <a:ext cx="217855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Préparation du BPF (vs plusieurs jours)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0" y="5394960"/>
            <a:ext cx="10725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 total : l'équivalent de 1 à 2 jours par semaine récupérés sur l'administratif.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5FD4"/>
          </a:solidFill>
          <a:ln/>
        </p:spPr>
      </p:sp>
      <p:sp>
        <p:nvSpPr>
          <p:cNvPr id="3" name="Shape 1"/>
          <p:cNvSpPr/>
          <p:nvPr/>
        </p:nvSpPr>
        <p:spPr>
          <a:xfrm>
            <a:off x="4727448" y="1051560"/>
            <a:ext cx="274320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4" name="Image 0" descr="C:\Users\GPSP\Desktop\cap-competence-manager\public\cap-competences-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956048" y="1225296"/>
            <a:ext cx="2286000" cy="7040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2514600"/>
            <a:ext cx="1072591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Passons à la démonstration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1188720" y="3657600"/>
            <a:ext cx="98115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 sur vos propres données · Mise en place à vos couleurs · Formation de votre équipe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188720" y="4526280"/>
            <a:ext cx="98115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D9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 outil, conçu pour Qualiopi, automatisé et à votre image. Contactez-nous pour démarrer.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 Compétence Manager — Présentation produit</dc:title>
  <dc:subject>PptxGenJS Presentation</dc:subject>
  <dc:creator>CAP Compétence Manager</dc:creator>
  <cp:lastModifiedBy>CAP Compétence Manager</cp:lastModifiedBy>
  <cp:revision>1</cp:revision>
  <dcterms:created xsi:type="dcterms:W3CDTF">2026-06-15T18:23:21Z</dcterms:created>
  <dcterms:modified xsi:type="dcterms:W3CDTF">2026-06-15T18:23:21Z</dcterms:modified>
</cp:coreProperties>
</file>